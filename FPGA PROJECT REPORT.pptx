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8" r:id="rId4"/>
    <p:sldId id="261" r:id="rId5"/>
    <p:sldId id="262" r:id="rId6"/>
    <p:sldId id="258" r:id="rId7"/>
    <p:sldId id="259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FA22-D307-ECD1-CED9-4063B03FD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F3BDE-2A62-8D37-9D54-D1FE6BBAE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52A1-C658-B962-7724-28A14DE0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D7406-B17E-D30E-1767-D5482768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E12A-E6A1-30EE-9FD5-049D6F82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5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C964-7CEA-49EF-D306-30A0466D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B29B2-046A-E58E-32F6-EAE87D394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806D5-1C53-C0DE-4522-8914C22B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6D29A-0A6D-1D44-87E7-9286842F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74617-288F-7B19-D65D-4924555F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1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BF6B-FDAF-09A3-1DDA-C9323C04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2FF15-A181-17FC-C202-EADF0EF2E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DBB8B-5DBC-E150-C4AB-87A7D083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FC21C-9234-A2CE-300F-1584DDCC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0EECD-FB48-1456-5027-E3811D4A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7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443F-DFA9-178D-1FE3-44BF11B8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2BEF1-A6AD-C7AF-303A-14121F0F9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3AB95-58BD-6ECE-D5C0-017BA27E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8C8B0-07E0-2013-9AAE-67BDEB01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4D577-8F0C-36ED-E56E-5C2ED8F4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F0D47-924B-3F74-E491-CE441AD1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35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0FB1-CADF-0BCA-F40C-BF227B0F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125A9-1E3C-BA9D-D305-65362687E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A0C39-3FDA-84DE-2D35-2ACEA7560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B0C95-D781-DC56-E6F0-66709AB5C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52BFE-77FB-E25D-A0D7-8F2D8B87E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C71A7-8DB5-0BC0-CFC2-F0539915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D1DF1-1A8B-8318-7EA6-5C814E1C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64F03-8A43-506B-A70C-EAAF462C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90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1472-652F-09BB-4CB6-35146A5A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F4F7B-9FD3-6BAB-F53F-503CA81E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3DB1A-F5E2-3205-D612-F98EBFDE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58791-6D19-2603-DD3C-F933EA4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37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C05D1-6F93-0D39-AA44-BA83C6C9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A8DC0-9B58-3695-2306-D0E9120F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F7BD5-9504-2A40-69A3-7B47EC6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76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8557-B67D-4B26-B231-D75C5EAB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51F2D-5B31-ACCF-C006-B410EE48B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96384-80EA-8102-64CC-345F82790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6EDAA-6706-FF40-FCD6-53745774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F8D30-45AC-4AA3-2B5C-E409314E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410A2-ED56-A2A0-F9E8-0DF13380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41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5889-80E9-8F50-5086-CDBE266D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84645-D9A4-120C-2144-735E5ECAA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F55D2-0AF8-26E4-39C1-34C07963E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88A9B-04DD-AAAE-4005-4B045A62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65E1C-FE82-F25A-6C6C-2B7BD617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396DF-95F8-06C5-E287-2A752151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66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16D8-A62D-28A7-1913-9085A685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45442-8A6D-02F3-23AD-E3CB81553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B911-A1D5-E6B9-30EF-BC664C89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3052-ECA3-F295-D0D6-8D256CAE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CFD86-C831-AEF4-B367-EA8003A5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49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62CF3-7595-6DA5-87C6-84DFBE29E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E3F9D-890E-5347-4E00-391405D70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11FF7-75FF-3BD1-7BCE-8B90CE93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969BB-D009-A008-C2D2-E4DA5D28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8766F-1099-355A-E4C4-2EA4CB0C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99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22099-6E2F-835A-6701-E3137A72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1FA6D-D005-7EF2-DEE3-A2C54D9E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9569B-8B48-7820-9BDE-AE225D087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D5A8A-6EF3-4F68-9346-6835C21CD37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7E2D-4CA1-4F72-A17F-2819638E0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12AB9-6BD6-CDBE-9207-8D474A748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0AAC1-8180-470D-95A6-5432F8966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32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ismitaM/Weiner-Filter-using-FPG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7126-8C82-9E32-F01D-F91C068DB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872" y="299050"/>
            <a:ext cx="10806022" cy="203008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</a:pPr>
            <a:r>
              <a:rPr lang="en-IN" sz="4400" b="1" dirty="0"/>
              <a:t>FPGA PROJECT REPORT</a:t>
            </a:r>
            <a:r>
              <a:rPr lang="en-IN" sz="1400" b="1" dirty="0"/>
              <a:t> </a:t>
            </a:r>
            <a:br>
              <a:rPr lang="en-IN" sz="1400" b="1" dirty="0"/>
            </a:br>
            <a:br>
              <a:rPr lang="en-IN" sz="1400" b="1" dirty="0"/>
            </a:br>
            <a:br>
              <a:rPr lang="en-IN" sz="900" dirty="0"/>
            </a:b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Wiener Filter for image processing. Use VGA and HDL or HLS for implementation.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(Due to unavailability of VGA cable, it was implemented using UART protocol).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406DA-D73A-DF77-4477-B50373616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3744" y="2666282"/>
            <a:ext cx="10138912" cy="152543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Repositary</a:t>
            </a:r>
            <a:r>
              <a:rPr lang="en-IN" dirty="0"/>
              <a:t> Link: </a:t>
            </a:r>
            <a:r>
              <a:rPr lang="en-IN" sz="1800" dirty="0">
                <a:hlinkClick r:id="rId2"/>
              </a:rPr>
              <a:t>https://github.com/ArismitaM/Weiner-Filter-using-FPGA</a:t>
            </a:r>
            <a:endParaRPr lang="en-IN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Team Members: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err="1"/>
              <a:t>Arismita</a:t>
            </a:r>
            <a:r>
              <a:rPr lang="en-IN" dirty="0"/>
              <a:t> Mukherjee IMT2023585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/>
              <a:t>Taral Sanka IMT2023588</a:t>
            </a:r>
          </a:p>
          <a:p>
            <a:pPr algn="l"/>
            <a:endParaRPr lang="en-IN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630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A2132-AB2E-B466-9435-AE50F62E55B7}"/>
              </a:ext>
            </a:extLst>
          </p:cNvPr>
          <p:cNvSpPr txBox="1"/>
          <p:nvPr/>
        </p:nvSpPr>
        <p:spPr>
          <a:xfrm>
            <a:off x="839638" y="707366"/>
            <a:ext cx="6561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Wiener Filter:</a:t>
            </a:r>
          </a:p>
          <a:p>
            <a:endParaRPr lang="en-IN"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6DF45C-DED0-B8FA-470E-FA3FA9F23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288" y="1353697"/>
            <a:ext cx="5209276" cy="39534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06C4E7-C082-3A12-D34A-99766BFFAE7A}"/>
              </a:ext>
            </a:extLst>
          </p:cNvPr>
          <p:cNvSpPr txBox="1"/>
          <p:nvPr/>
        </p:nvSpPr>
        <p:spPr>
          <a:xfrm>
            <a:off x="724619" y="1480824"/>
            <a:ext cx="53713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Wiener Filter is a statistical signal processing filter that minimizes the mean square error between an original, noiseless signal and an estimated signal, effectively removing noise and restoring degraded images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It minimizes the mean square error (MSE) between the original and estimated signals.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16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834C9B-6EC3-3A83-EF03-18BECF4728FD}"/>
              </a:ext>
            </a:extLst>
          </p:cNvPr>
          <p:cNvSpPr txBox="1"/>
          <p:nvPr/>
        </p:nvSpPr>
        <p:spPr>
          <a:xfrm>
            <a:off x="1161690" y="31568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Principle of Wiener Filter:</a:t>
            </a:r>
            <a:endParaRPr lang="en-IN" dirty="0"/>
          </a:p>
          <a:p>
            <a:r>
              <a:rPr lang="en-IN" dirty="0"/>
              <a:t>If variance is small (flat region, mostly noise):</a:t>
            </a:r>
          </a:p>
          <a:p>
            <a:r>
              <a:rPr lang="en-IN" dirty="0"/>
              <a:t>→ G becomes small → output ≈ mean (strong smoothing)</a:t>
            </a:r>
          </a:p>
          <a:p>
            <a:endParaRPr lang="en-IN" dirty="0"/>
          </a:p>
          <a:p>
            <a:r>
              <a:rPr lang="en-IN" dirty="0"/>
              <a:t>If variance is large (edges / details):</a:t>
            </a:r>
          </a:p>
          <a:p>
            <a:r>
              <a:rPr lang="en-IN" dirty="0"/>
              <a:t>→ G becomes large → output ≈ </a:t>
            </a:r>
            <a:r>
              <a:rPr lang="en-IN" dirty="0" err="1"/>
              <a:t>center</a:t>
            </a:r>
            <a:r>
              <a:rPr lang="en-IN" dirty="0"/>
              <a:t> pixel (preserves edges)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8BB4C-BB4D-077F-CA19-956920612958}"/>
              </a:ext>
            </a:extLst>
          </p:cNvPr>
          <p:cNvSpPr txBox="1"/>
          <p:nvPr/>
        </p:nvSpPr>
        <p:spPr>
          <a:xfrm>
            <a:off x="1161690" y="2423416"/>
            <a:ext cx="61822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We used:</a:t>
            </a:r>
          </a:p>
          <a:p>
            <a:r>
              <a:rPr lang="en-IN" dirty="0"/>
              <a:t>CLK_FREQ = 25,000,000 (25 MHz pixel clock)</a:t>
            </a:r>
          </a:p>
          <a:p>
            <a:endParaRPr lang="en-IN" dirty="0"/>
          </a:p>
          <a:p>
            <a:r>
              <a:rPr lang="en-IN" dirty="0"/>
              <a:t>BAUD_RATE = 115200</a:t>
            </a:r>
          </a:p>
          <a:p>
            <a:endParaRPr lang="en-IN" dirty="0"/>
          </a:p>
          <a:p>
            <a:r>
              <a:rPr lang="en-IN" dirty="0"/>
              <a:t>we have chosen the above parameters</a:t>
            </a:r>
          </a:p>
          <a:p>
            <a:endParaRPr lang="en-IN" dirty="0"/>
          </a:p>
          <a:p>
            <a:r>
              <a:rPr lang="en-IN" dirty="0"/>
              <a:t>Bit duration (in s) = 1 / Baud Rate = 1/115200 = 8.68us</a:t>
            </a:r>
          </a:p>
          <a:p>
            <a:endParaRPr lang="en-IN" dirty="0"/>
          </a:p>
          <a:p>
            <a:r>
              <a:rPr lang="en-IN" dirty="0"/>
              <a:t>Clock cycles per bit = FPGA </a:t>
            </a:r>
            <a:r>
              <a:rPr lang="en-IN" dirty="0" err="1"/>
              <a:t>clf</a:t>
            </a:r>
            <a:r>
              <a:rPr lang="en-IN" dirty="0"/>
              <a:t> </a:t>
            </a:r>
            <a:r>
              <a:rPr lang="en-IN" dirty="0" err="1"/>
              <a:t>freq</a:t>
            </a:r>
            <a:r>
              <a:rPr lang="en-IN" dirty="0"/>
              <a:t> / baud rate = 217 </a:t>
            </a:r>
          </a:p>
          <a:p>
            <a:endParaRPr lang="en-IN" dirty="0"/>
          </a:p>
          <a:p>
            <a:r>
              <a:rPr lang="en-IN" dirty="0" err="1"/>
              <a:t>Uart</a:t>
            </a:r>
            <a:r>
              <a:rPr lang="en-IN" dirty="0"/>
              <a:t> bit rate:</a:t>
            </a:r>
          </a:p>
          <a:p>
            <a:r>
              <a:rPr lang="en-IN" dirty="0"/>
              <a:t>1 start + 8 data + 1 stop = 10 bits</a:t>
            </a:r>
          </a:p>
        </p:txBody>
      </p:sp>
    </p:spTree>
    <p:extLst>
      <p:ext uri="{BB962C8B-B14F-4D97-AF65-F5344CB8AC3E}">
        <p14:creationId xmlns:p14="http://schemas.microsoft.com/office/powerpoint/2010/main" val="239735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B5F3B-0503-C712-37E7-98BDA814A441}"/>
              </a:ext>
            </a:extLst>
          </p:cNvPr>
          <p:cNvSpPr txBox="1"/>
          <p:nvPr/>
        </p:nvSpPr>
        <p:spPr>
          <a:xfrm>
            <a:off x="1167441" y="523336"/>
            <a:ext cx="8522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Image Filtering using Wiener Filter in Python </a:t>
            </a:r>
          </a:p>
        </p:txBody>
      </p:sp>
      <p:pic>
        <p:nvPicPr>
          <p:cNvPr id="4" name="Picture 3" descr="A collage of two tigers&#10;&#10;AI-generated content may be incorrect.">
            <a:extLst>
              <a:ext uri="{FF2B5EF4-FFF2-40B4-BE49-F238E27FC236}">
                <a16:creationId xmlns:a16="http://schemas.microsoft.com/office/drawing/2014/main" id="{29776F14-FA57-8CE6-264D-5623B35B7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146" y="1719443"/>
            <a:ext cx="7973183" cy="2961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3142CF-4C24-7200-C1CD-2AD44C84FA2C}"/>
              </a:ext>
            </a:extLst>
          </p:cNvPr>
          <p:cNvSpPr txBox="1"/>
          <p:nvPr/>
        </p:nvSpPr>
        <p:spPr>
          <a:xfrm>
            <a:off x="3766868" y="5046378"/>
            <a:ext cx="101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157E0-BCF1-ED8D-25F3-28C401FBCE82}"/>
              </a:ext>
            </a:extLst>
          </p:cNvPr>
          <p:cNvSpPr txBox="1"/>
          <p:nvPr/>
        </p:nvSpPr>
        <p:spPr>
          <a:xfrm>
            <a:off x="6000120" y="5046378"/>
            <a:ext cx="50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791E9-77AB-C48D-2DA7-4358823E7ACD}"/>
              </a:ext>
            </a:extLst>
          </p:cNvPr>
          <p:cNvSpPr txBox="1"/>
          <p:nvPr/>
        </p:nvSpPr>
        <p:spPr>
          <a:xfrm>
            <a:off x="7717766" y="5046378"/>
            <a:ext cx="74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60796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E367DF-325E-CD9F-690F-041E4751BB38}"/>
              </a:ext>
            </a:extLst>
          </p:cNvPr>
          <p:cNvSpPr txBox="1"/>
          <p:nvPr/>
        </p:nvSpPr>
        <p:spPr>
          <a:xfrm>
            <a:off x="1061047" y="3990534"/>
            <a:ext cx="80915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Original vs Wiener Filter Comparison For python:</a:t>
            </a:r>
          </a:p>
          <a:p>
            <a:endParaRPr lang="en-IN" sz="2000" dirty="0"/>
          </a:p>
          <a:p>
            <a:r>
              <a:rPr lang="en-IN" sz="2000" dirty="0"/>
              <a:t>MSE  : 46.383</a:t>
            </a:r>
          </a:p>
          <a:p>
            <a:r>
              <a:rPr lang="en-IN" sz="2000" dirty="0"/>
              <a:t>PSNR : 31.467 dB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9BBAB-88E9-DC7E-9B43-63993C0E4A0B}"/>
              </a:ext>
            </a:extLst>
          </p:cNvPr>
          <p:cNvSpPr txBox="1"/>
          <p:nvPr/>
        </p:nvSpPr>
        <p:spPr>
          <a:xfrm>
            <a:off x="859766" y="943964"/>
            <a:ext cx="102539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MSE (Mean Squared Error) and PSNR (Peak Signal-to-Noise Ratio) are metrics used to quantify the difference between an original and a processed image, often used to evaluate image compression or noise reduction quality.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D6E21-69DB-D52A-BE28-ABE249D01B55}"/>
              </a:ext>
            </a:extLst>
          </p:cNvPr>
          <p:cNvSpPr txBox="1"/>
          <p:nvPr/>
        </p:nvSpPr>
        <p:spPr>
          <a:xfrm>
            <a:off x="859766" y="2025285"/>
            <a:ext cx="10472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MSE measures the cumulative squared error between pixels, with a lower value indicating better quality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PSNR represents the peak error relative to the maximum possible pixel value, with a higher value indicating better quality.</a:t>
            </a:r>
          </a:p>
        </p:txBody>
      </p:sp>
    </p:spTree>
    <p:extLst>
      <p:ext uri="{BB962C8B-B14F-4D97-AF65-F5344CB8AC3E}">
        <p14:creationId xmlns:p14="http://schemas.microsoft.com/office/powerpoint/2010/main" val="300865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D3A3A-1708-2573-068C-345084022D8C}"/>
              </a:ext>
            </a:extLst>
          </p:cNvPr>
          <p:cNvSpPr txBox="1"/>
          <p:nvPr/>
        </p:nvSpPr>
        <p:spPr>
          <a:xfrm>
            <a:off x="1328473" y="1352550"/>
            <a:ext cx="3761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Original Image Before Filtering</a:t>
            </a:r>
          </a:p>
          <a:p>
            <a:endParaRPr lang="en-IN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B036700-9AEB-E1D7-E10D-C894FB7154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11661" y="3691746"/>
            <a:ext cx="232940" cy="2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A tiger lying down in the dirt&#10;&#10;AI-generated content may be incorrect.">
            <a:extLst>
              <a:ext uri="{FF2B5EF4-FFF2-40B4-BE49-F238E27FC236}">
                <a16:creationId xmlns:a16="http://schemas.microsoft.com/office/drawing/2014/main" id="{3B17338E-116F-3B00-0AEA-7C3228A3E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47" y="1916502"/>
            <a:ext cx="3588587" cy="2691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05BAC7-C518-0D06-CD0D-EFE1E33E05EF}"/>
              </a:ext>
            </a:extLst>
          </p:cNvPr>
          <p:cNvSpPr txBox="1"/>
          <p:nvPr/>
        </p:nvSpPr>
        <p:spPr>
          <a:xfrm>
            <a:off x="7338207" y="1352550"/>
            <a:ext cx="3236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Image after Filtering in FPGA</a:t>
            </a:r>
          </a:p>
        </p:txBody>
      </p:sp>
      <p:pic>
        <p:nvPicPr>
          <p:cNvPr id="8" name="Picture 7" descr="A tiger lying down in the dirt&#10;&#10;AI-generated content may be incorrect.">
            <a:extLst>
              <a:ext uri="{FF2B5EF4-FFF2-40B4-BE49-F238E27FC236}">
                <a16:creationId xmlns:a16="http://schemas.microsoft.com/office/drawing/2014/main" id="{8097DFBD-6ECB-58D6-1FD1-1864A27B8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413" y="1998881"/>
            <a:ext cx="3588589" cy="269144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780751-B74E-471F-27ED-63F597C25473}"/>
              </a:ext>
            </a:extLst>
          </p:cNvPr>
          <p:cNvCxnSpPr>
            <a:cxnSpLocks/>
          </p:cNvCxnSpPr>
          <p:nvPr/>
        </p:nvCxnSpPr>
        <p:spPr>
          <a:xfrm>
            <a:off x="5175849" y="3258987"/>
            <a:ext cx="15470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6B120F-926F-B992-F508-DAA7D8B95DCF}"/>
              </a:ext>
            </a:extLst>
          </p:cNvPr>
          <p:cNvSpPr txBox="1"/>
          <p:nvPr/>
        </p:nvSpPr>
        <p:spPr>
          <a:xfrm>
            <a:off x="1092680" y="305878"/>
            <a:ext cx="6465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Image Processing using Wiener Filter in FPGA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82914-E52D-9D60-037A-98220F0DFAA2}"/>
              </a:ext>
            </a:extLst>
          </p:cNvPr>
          <p:cNvSpPr txBox="1"/>
          <p:nvPr/>
        </p:nvSpPr>
        <p:spPr>
          <a:xfrm>
            <a:off x="3380131" y="517189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Image Comparison Results In FPGA:</a:t>
            </a:r>
          </a:p>
          <a:p>
            <a:r>
              <a:rPr lang="en-IN" dirty="0"/>
              <a:t>         MSE  : 0.713</a:t>
            </a:r>
          </a:p>
          <a:p>
            <a:r>
              <a:rPr lang="en-IN" dirty="0"/>
              <a:t>         PSNR : 49.600 dB</a:t>
            </a:r>
          </a:p>
        </p:txBody>
      </p:sp>
    </p:spTree>
    <p:extLst>
      <p:ext uri="{BB962C8B-B14F-4D97-AF65-F5344CB8AC3E}">
        <p14:creationId xmlns:p14="http://schemas.microsoft.com/office/powerpoint/2010/main" val="79470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A98A3A-745C-0987-E5B4-AEB5518B0A6C}"/>
              </a:ext>
            </a:extLst>
          </p:cNvPr>
          <p:cNvSpPr txBox="1"/>
          <p:nvPr/>
        </p:nvSpPr>
        <p:spPr>
          <a:xfrm>
            <a:off x="994913" y="219345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Timing Report With Critical Path: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5A1AFA-7454-6F09-1C26-56F66C5D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" y="1048839"/>
            <a:ext cx="9920377" cy="539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8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8BE5B-FDBF-8F1E-8904-02C28B9D26FF}"/>
              </a:ext>
            </a:extLst>
          </p:cNvPr>
          <p:cNvSpPr txBox="1"/>
          <p:nvPr/>
        </p:nvSpPr>
        <p:spPr>
          <a:xfrm>
            <a:off x="874143" y="281796"/>
            <a:ext cx="8586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Power Report: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903DFC-00E4-4760-0F9A-268F4B41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43" y="812497"/>
            <a:ext cx="9880660" cy="542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75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E4BE-913B-61D1-D66C-C275C60B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37E2EC-313A-7E98-D6EC-926A51F8F11B}"/>
              </a:ext>
            </a:extLst>
          </p:cNvPr>
          <p:cNvSpPr txBox="1"/>
          <p:nvPr/>
        </p:nvSpPr>
        <p:spPr>
          <a:xfrm>
            <a:off x="874143" y="281796"/>
            <a:ext cx="8586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Utilization Summary:</a:t>
            </a:r>
          </a:p>
        </p:txBody>
      </p:sp>
      <p:pic>
        <p:nvPicPr>
          <p:cNvPr id="5" name="Picture 4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B0AAFAD7-4B51-C76E-AB7C-E6614BDBE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870" y="926131"/>
            <a:ext cx="6843624" cy="548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5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6FA5-7020-3B2F-BB68-6F1534EB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28D958-EA89-ABAC-18C3-000A997428F6}"/>
              </a:ext>
            </a:extLst>
          </p:cNvPr>
          <p:cNvSpPr txBox="1"/>
          <p:nvPr/>
        </p:nvSpPr>
        <p:spPr>
          <a:xfrm>
            <a:off x="839637" y="615351"/>
            <a:ext cx="8586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Utilization Hierarchy: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BD75B5-CF88-C3A1-A28C-129973271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7145"/>
            <a:ext cx="12192000" cy="2057400"/>
          </a:xfrm>
          <a:prstGeom prst="rect">
            <a:avLst/>
          </a:prstGeom>
        </p:spPr>
      </p:pic>
      <p:pic>
        <p:nvPicPr>
          <p:cNvPr id="6" name="Google Shape;110;p26">
            <a:extLst>
              <a:ext uri="{FF2B5EF4-FFF2-40B4-BE49-F238E27FC236}">
                <a16:creationId xmlns:a16="http://schemas.microsoft.com/office/drawing/2014/main" id="{75D30907-C08D-C760-3C36-B95E48EB44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10" y="4069938"/>
            <a:ext cx="9144001" cy="20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451F49-150D-8DBB-378E-E1CFECC26E78}"/>
              </a:ext>
            </a:extLst>
          </p:cNvPr>
          <p:cNvSpPr txBox="1"/>
          <p:nvPr/>
        </p:nvSpPr>
        <p:spPr>
          <a:xfrm>
            <a:off x="839637" y="3422909"/>
            <a:ext cx="414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Timing Summary:</a:t>
            </a:r>
          </a:p>
        </p:txBody>
      </p:sp>
    </p:spTree>
    <p:extLst>
      <p:ext uri="{BB962C8B-B14F-4D97-AF65-F5344CB8AC3E}">
        <p14:creationId xmlns:p14="http://schemas.microsoft.com/office/powerpoint/2010/main" val="72109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5FC6C1-7B95-20BE-9AE9-07CAC08A5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36" y="869982"/>
            <a:ext cx="7386753" cy="4703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5A30F2-F804-7F82-37BB-A606548975CE}"/>
              </a:ext>
            </a:extLst>
          </p:cNvPr>
          <p:cNvSpPr txBox="1"/>
          <p:nvPr/>
        </p:nvSpPr>
        <p:spPr>
          <a:xfrm>
            <a:off x="897147" y="276045"/>
            <a:ext cx="7251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BRAM IP Configuration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C14D5-2EC4-1BDA-205C-872919C00251}"/>
              </a:ext>
            </a:extLst>
          </p:cNvPr>
          <p:cNvSpPr txBox="1"/>
          <p:nvPr/>
        </p:nvSpPr>
        <p:spPr>
          <a:xfrm>
            <a:off x="1078636" y="5988018"/>
            <a:ext cx="868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Original Image-320x240 pixels = 76800</a:t>
            </a:r>
          </a:p>
        </p:txBody>
      </p:sp>
    </p:spTree>
    <p:extLst>
      <p:ext uri="{BB962C8B-B14F-4D97-AF65-F5344CB8AC3E}">
        <p14:creationId xmlns:p14="http://schemas.microsoft.com/office/powerpoint/2010/main" val="411091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394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FPGA PROJECT REPORT    Problem Statement: Design a Wiener Filter for image processing. Use VGA and HDL or HLS for implementation. (Due to unavailability of VGA cable, it was implemented using UART protocol).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TARAL SANKA</dc:creator>
  <cp:lastModifiedBy>TARAL SANKA</cp:lastModifiedBy>
  <cp:revision>1</cp:revision>
  <dcterms:created xsi:type="dcterms:W3CDTF">2025-11-20T08:48:36Z</dcterms:created>
  <dcterms:modified xsi:type="dcterms:W3CDTF">2025-11-20T09:47:51Z</dcterms:modified>
</cp:coreProperties>
</file>